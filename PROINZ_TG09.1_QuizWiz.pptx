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17"/>
  </p:notesMasterIdLst>
  <p:sldIdLst>
    <p:sldId id="265" r:id="rId3"/>
    <p:sldId id="266" r:id="rId4"/>
    <p:sldId id="267" r:id="rId5"/>
    <p:sldId id="262" r:id="rId6"/>
    <p:sldId id="277" r:id="rId7"/>
    <p:sldId id="268" r:id="rId8"/>
    <p:sldId id="259" r:id="rId9"/>
    <p:sldId id="276" r:id="rId10"/>
    <p:sldId id="269" r:id="rId11"/>
    <p:sldId id="261" r:id="rId12"/>
    <p:sldId id="260" r:id="rId13"/>
    <p:sldId id="275" r:id="rId14"/>
    <p:sldId id="274" r:id="rId15"/>
    <p:sldId id="26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82367" autoAdjust="0"/>
  </p:normalViewPr>
  <p:slideViewPr>
    <p:cSldViewPr snapToGrid="0">
      <p:cViewPr varScale="1">
        <p:scale>
          <a:sx n="75" d="100"/>
          <a:sy n="75" d="100"/>
        </p:scale>
        <p:origin x="1229" y="58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640341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Preko </a:t>
            </a:r>
            <a:r>
              <a:rPr lang="hr-HR" dirty="0" err="1"/>
              <a:t>Discorda</a:t>
            </a:r>
            <a:r>
              <a:rPr lang="hr-HR" dirty="0"/>
              <a:t> smo si slali kodove i </a:t>
            </a:r>
            <a:r>
              <a:rPr lang="hr-HR" dirty="0" err="1"/>
              <a:t>tutoriale</a:t>
            </a:r>
            <a:r>
              <a:rPr lang="hr-HR" dirty="0"/>
              <a:t>, a </a:t>
            </a:r>
            <a:r>
              <a:rPr lang="hr-HR" dirty="0" err="1"/>
              <a:t>prek</a:t>
            </a:r>
            <a:r>
              <a:rPr lang="hr-HR" dirty="0"/>
              <a:t> WhatsAppa smo pisali najvažnije informacije, poput zaključaka na sastanku, dogovora daljnjeg rada…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7952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Većina</a:t>
            </a:r>
            <a:r>
              <a:rPr lang="en-US" dirty="0"/>
              <a:t> pub </a:t>
            </a:r>
            <a:r>
              <a:rPr lang="en-US" dirty="0" err="1"/>
              <a:t>kvizova</a:t>
            </a:r>
            <a:r>
              <a:rPr lang="en-US" dirty="0"/>
              <a:t> </a:t>
            </a:r>
            <a:r>
              <a:rPr lang="en-US" dirty="0" err="1"/>
              <a:t>danas</a:t>
            </a:r>
            <a:r>
              <a:rPr lang="en-US" dirty="0"/>
              <a:t> se </a:t>
            </a:r>
            <a:r>
              <a:rPr lang="en-US" dirty="0" err="1"/>
              <a:t>organizira</a:t>
            </a:r>
            <a:r>
              <a:rPr lang="en-US" dirty="0"/>
              <a:t> </a:t>
            </a:r>
            <a:r>
              <a:rPr lang="en-US" dirty="0" err="1"/>
              <a:t>neformalno</a:t>
            </a:r>
            <a:r>
              <a:rPr lang="en-US" dirty="0"/>
              <a:t>, </a:t>
            </a:r>
            <a:r>
              <a:rPr lang="en-US" dirty="0" err="1"/>
              <a:t>putem</a:t>
            </a:r>
            <a:r>
              <a:rPr lang="en-US" dirty="0"/>
              <a:t> Facebook </a:t>
            </a:r>
            <a:r>
              <a:rPr lang="en-US" dirty="0" err="1"/>
              <a:t>grupa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privatnih</a:t>
            </a:r>
            <a:r>
              <a:rPr lang="en-US" dirty="0"/>
              <a:t> </a:t>
            </a:r>
            <a:r>
              <a:rPr lang="en-US" dirty="0" err="1"/>
              <a:t>poruka</a:t>
            </a:r>
            <a:r>
              <a:rPr lang="en-US" dirty="0"/>
              <a:t>.</a:t>
            </a:r>
            <a:r>
              <a:rPr lang="hr-HR" dirty="0"/>
              <a:t> </a:t>
            </a:r>
            <a:r>
              <a:rPr lang="en-US" dirty="0" err="1"/>
              <a:t>Naša</a:t>
            </a:r>
            <a:r>
              <a:rPr lang="en-US" dirty="0"/>
              <a:t> </a:t>
            </a:r>
            <a:r>
              <a:rPr lang="en-US" dirty="0" err="1"/>
              <a:t>aplikacija</a:t>
            </a:r>
            <a:r>
              <a:rPr lang="en-US" dirty="0"/>
              <a:t> </a:t>
            </a:r>
            <a:r>
              <a:rPr lang="en-US" dirty="0" err="1"/>
              <a:t>omogućuje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kvizovima</a:t>
            </a:r>
            <a:r>
              <a:rPr lang="en-US" dirty="0"/>
              <a:t>, </a:t>
            </a:r>
            <a:r>
              <a:rPr lang="en-US" dirty="0" err="1"/>
              <a:t>prijavama</a:t>
            </a:r>
            <a:r>
              <a:rPr lang="en-US" dirty="0"/>
              <a:t> </a:t>
            </a:r>
            <a:r>
              <a:rPr lang="en-US" dirty="0" err="1"/>
              <a:t>timova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evidencijom</a:t>
            </a:r>
            <a:r>
              <a:rPr lang="en-US" dirty="0"/>
              <a:t> </a:t>
            </a:r>
            <a:r>
              <a:rPr lang="en-US" dirty="0" err="1"/>
              <a:t>sudionika</a:t>
            </a:r>
            <a:r>
              <a:rPr lang="en-US" dirty="0"/>
              <a:t>.</a:t>
            </a:r>
            <a:r>
              <a:rPr lang="hr-HR" dirty="0"/>
              <a:t> </a:t>
            </a:r>
            <a:r>
              <a:rPr lang="en-US" dirty="0" err="1"/>
              <a:t>Cilj</a:t>
            </a:r>
            <a:r>
              <a:rPr lang="en-US" dirty="0"/>
              <a:t> je </a:t>
            </a:r>
            <a:r>
              <a:rPr lang="en-US" dirty="0" err="1"/>
              <a:t>olakšati</a:t>
            </a:r>
            <a:r>
              <a:rPr lang="en-US" dirty="0"/>
              <a:t> </a:t>
            </a:r>
            <a:r>
              <a:rPr lang="en-US" dirty="0" err="1"/>
              <a:t>komunikaciju</a:t>
            </a:r>
            <a:r>
              <a:rPr lang="en-US" dirty="0"/>
              <a:t> </a:t>
            </a:r>
            <a:r>
              <a:rPr lang="en-US" dirty="0" err="1"/>
              <a:t>organizatora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sudionika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centralizirati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informacije</a:t>
            </a:r>
            <a:r>
              <a:rPr lang="en-US" dirty="0"/>
              <a:t>.</a:t>
            </a:r>
            <a:r>
              <a:rPr lang="hr-HR" dirty="0"/>
              <a:t> </a:t>
            </a:r>
            <a:r>
              <a:rPr lang="en-US" dirty="0" err="1"/>
              <a:t>Sudionici</a:t>
            </a:r>
            <a:r>
              <a:rPr lang="en-US" dirty="0"/>
              <a:t> </a:t>
            </a:r>
            <a:r>
              <a:rPr lang="en-US" dirty="0" err="1"/>
              <a:t>više</a:t>
            </a:r>
            <a:r>
              <a:rPr lang="en-US" dirty="0"/>
              <a:t> ne </a:t>
            </a:r>
            <a:r>
              <a:rPr lang="en-US" dirty="0" err="1"/>
              <a:t>moraju</a:t>
            </a:r>
            <a:r>
              <a:rPr lang="en-US" dirty="0"/>
              <a:t> </a:t>
            </a:r>
            <a:r>
              <a:rPr lang="en-US" dirty="0" err="1"/>
              <a:t>pregledavati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profile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društvenim</a:t>
            </a:r>
            <a:r>
              <a:rPr lang="en-US" dirty="0"/>
              <a:t> </a:t>
            </a:r>
            <a:r>
              <a:rPr lang="en-US" dirty="0" err="1"/>
              <a:t>mrežama</a:t>
            </a:r>
            <a:r>
              <a:rPr lang="en-US" dirty="0"/>
              <a:t> da bi </a:t>
            </a:r>
            <a:r>
              <a:rPr lang="en-US" dirty="0" err="1"/>
              <a:t>pronašli</a:t>
            </a:r>
            <a:r>
              <a:rPr lang="en-US" dirty="0"/>
              <a:t> </a:t>
            </a:r>
            <a:r>
              <a:rPr lang="en-US" dirty="0" err="1"/>
              <a:t>najbolji</a:t>
            </a:r>
            <a:r>
              <a:rPr lang="en-US" dirty="0"/>
              <a:t> </a:t>
            </a:r>
            <a:r>
              <a:rPr lang="en-US" dirty="0" err="1"/>
              <a:t>kviz</a:t>
            </a:r>
            <a:r>
              <a:rPr lang="en-US" dirty="0"/>
              <a:t>.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Spomenuti zahtjeve na slajdu.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24023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Nefunkcionalne zahtjeve podijelili smo na 7 kategorija. Prva su zahtjevi održivosti gdje je glavni fokus na održavanju dokumentacije i intuitivnog korištenja aplikacije. Zatim na zahtjeve skalabilnosti gdje govorimo da sustav treba podržavati par stotina istovremenih korisnika te da se niz asinkronih složenih radnji mora događati u pozadini. Zatim na zahtjeve dostupnosti gdje je najbitnije jednostavno održavanje aplikacije. Zatim na sigurnosne zahtjeve gdje je najbitnije da su korisnikovi podaci šifrirani tijekom pohrane te sigurni od različitih sigurnosnih prijetnji i napada. Zatim zahtjevi performansi gdje smo u fokus stavili brzinu izvođenja različitih korisničkih akcija i očitavanja određenih stranica. Zahtjevi ograničenja gdje smo inicijalno htjeli ograničiti prijavu samo timova iz regije ili države u kojoj se aplikacija nalazi. Također smo postavili i ograničenje na broj prijava koje jedan tim u kratkom vremenu može podnijeti i broj prijava timova na jedan kviz. I za kraj zahtjevi interoperabilnosti u kojima je najvažnije da se aplikacija može pokrenuti na svim modernim preglednicima.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4649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 početku se može vidjeti da svi korisnici (sudionici, organizatori ili </a:t>
            </a:r>
            <a:r>
              <a:rPr lang="hr-HR" dirty="0" err="1"/>
              <a:t>admini</a:t>
            </a:r>
            <a:r>
              <a:rPr lang="hr-HR" dirty="0"/>
              <a:t>) mogu kreirati račun, uređivati i brisati profil… No svaki </a:t>
            </a:r>
            <a:r>
              <a:rPr lang="hr-HR" dirty="0" err="1"/>
              <a:t>aktor</a:t>
            </a:r>
            <a:r>
              <a:rPr lang="hr-HR" dirty="0"/>
              <a:t> može još nešto dodatno, pa tako se sudionik može (navedi sve na drugom </a:t>
            </a:r>
            <a:r>
              <a:rPr lang="hr-HR" dirty="0" err="1"/>
              <a:t>UMLu</a:t>
            </a:r>
            <a:r>
              <a:rPr lang="hr-HR" dirty="0"/>
              <a:t>). Organizator može (navedi sve na </a:t>
            </a:r>
            <a:r>
              <a:rPr lang="hr-HR" dirty="0" err="1"/>
              <a:t>trecem</a:t>
            </a:r>
            <a:r>
              <a:rPr lang="hr-HR" dirty="0"/>
              <a:t> </a:t>
            </a:r>
            <a:r>
              <a:rPr lang="hr-HR" dirty="0" err="1"/>
              <a:t>UMLu</a:t>
            </a:r>
            <a:r>
              <a:rPr lang="hr-HR" dirty="0"/>
              <a:t>). I za kraj administrator može (navedi sve na </a:t>
            </a:r>
            <a:r>
              <a:rPr lang="hr-HR" dirty="0" err="1"/>
              <a:t>cetvrtom</a:t>
            </a:r>
            <a:r>
              <a:rPr lang="hr-HR" dirty="0"/>
              <a:t> </a:t>
            </a:r>
            <a:r>
              <a:rPr lang="hr-HR" dirty="0" err="1"/>
              <a:t>UMLu</a:t>
            </a:r>
            <a:r>
              <a:rPr lang="hr-HR" dirty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99208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Arhitektura našeg sustava je klijent-poslužitelj. (Slika 1) Korisnik komunicira sa </a:t>
            </a:r>
            <a:r>
              <a:rPr lang="hr-HR" dirty="0" err="1"/>
              <a:t>frontendom</a:t>
            </a:r>
            <a:r>
              <a:rPr lang="hr-HR" dirty="0"/>
              <a:t> pomoću HTTPS protokola, a </a:t>
            </a:r>
            <a:r>
              <a:rPr lang="hr-HR" dirty="0" err="1"/>
              <a:t>frontend</a:t>
            </a:r>
            <a:r>
              <a:rPr lang="hr-HR" dirty="0"/>
              <a:t> komunicira s </a:t>
            </a:r>
            <a:r>
              <a:rPr lang="hr-HR" dirty="0" err="1"/>
              <a:t>backendom</a:t>
            </a:r>
            <a:r>
              <a:rPr lang="hr-HR" dirty="0"/>
              <a:t> pomoću REST API-ja (slika 2). Na slici 2 se može vidjeti da čim se pokrene stranica u pregledniku, pokreće se i aplikacija. </a:t>
            </a:r>
            <a:r>
              <a:rPr lang="hr-HR" dirty="0" err="1"/>
              <a:t>Backend</a:t>
            </a:r>
            <a:r>
              <a:rPr lang="hr-HR" dirty="0"/>
              <a:t> osim što komunicira s </a:t>
            </a:r>
            <a:r>
              <a:rPr lang="hr-HR" dirty="0" err="1"/>
              <a:t>frontendom</a:t>
            </a:r>
            <a:r>
              <a:rPr lang="hr-HR" dirty="0"/>
              <a:t>, on je povezan i sa bazom podataka. Arhitektura </a:t>
            </a:r>
            <a:r>
              <a:rPr lang="hr-HR" dirty="0" err="1"/>
              <a:t>backenda</a:t>
            </a:r>
            <a:r>
              <a:rPr lang="hr-HR" dirty="0"/>
              <a:t> je MVC (objasniti zašto – ima na wikiju – i kako to funkcionira na slici 3. Slika 4 prikazuje dijagram razmještaja i tu je najbolje prikazano gdje smo koji dio poslužitelja hostali. </a:t>
            </a:r>
            <a:r>
              <a:rPr lang="hr-HR" dirty="0" err="1"/>
              <a:t>Frontend</a:t>
            </a:r>
            <a:r>
              <a:rPr lang="hr-HR" dirty="0"/>
              <a:t> u </a:t>
            </a:r>
            <a:r>
              <a:rPr lang="hr-HR" dirty="0" err="1"/>
              <a:t>Vercelu</a:t>
            </a:r>
            <a:r>
              <a:rPr lang="hr-HR" dirty="0"/>
              <a:t>, </a:t>
            </a:r>
            <a:r>
              <a:rPr lang="hr-HR" dirty="0" err="1"/>
              <a:t>backend</a:t>
            </a:r>
            <a:r>
              <a:rPr lang="hr-HR" dirty="0"/>
              <a:t> u </a:t>
            </a:r>
            <a:r>
              <a:rPr lang="hr-HR" dirty="0" err="1"/>
              <a:t>Railwayu</a:t>
            </a:r>
            <a:r>
              <a:rPr lang="hr-HR" dirty="0"/>
              <a:t>, bazu podataka u </a:t>
            </a:r>
            <a:r>
              <a:rPr lang="hr-HR" dirty="0" err="1"/>
              <a:t>Supabaseu</a:t>
            </a:r>
            <a:r>
              <a:rPr lang="hr-H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98813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Programski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jezici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Projekt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razvijen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korištenjem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JavaScripta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(ECMAScript2025)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izradu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korisničkog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sučelja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Jave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(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verzija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17)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razvoj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poslužiteljskog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dijela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te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SQL za rad 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relacijskom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bazom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podataka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 JavaScript je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odabran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zbog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svoje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fleksibilnosti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široke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podrške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među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modernim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web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preglednicima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što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omogućuje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izradu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dinamičnih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interaktivnih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korisničkih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sučelja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 Java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pruža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stabilno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sigurno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skalabilno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okruženje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implementaciju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poslovne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logike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 SQL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omogućuje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učinkovito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spremanje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dohvat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ažuriranje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analizu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podataka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što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ključno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pouzdano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konzistentno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upravljanje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informacijama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u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Radni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okviri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biblioteke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React (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verzija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19):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razvoj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klijentskog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dijela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korišten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je React,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popularna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JavaScript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biblioteka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izgradnju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interaktivnih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responzivnih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korisničkih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sučelja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 React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omogućuje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modularan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razvoj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putem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samostalnih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komponenti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jednostavne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ponovno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korištenje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ažuriranje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čime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se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olakšava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održavanje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skalabilnost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Node.js: Node.js je runtime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okruženje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omogućuje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izvršavanje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JavaScript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koda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izvan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preglednika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Spring Boot (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verzija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4):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razvoj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backend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korišten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je Spring Boot,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moderan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Java framework koji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omogućuje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brzo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postavljanje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konfiguraciju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servisa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te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integraciju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bazama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podataka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sigurnosnim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mehanizmima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OAuth 2.0: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autentifikaciju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korisnika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korišten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je OAuth 2.0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protokol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industrijski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standard koji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omogućuje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sigurnu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autorizaciju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odobravanje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pristupa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resursima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putem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vanjskih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poslužitelja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kao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što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je Google.</a:t>
            </a: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Baza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podataka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Projekt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koristi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PostgreSQL (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verzija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18)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kao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relacijsku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bazu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podataka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 PostgreSQL je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odabran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zbog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svoje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robusnosti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visoke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pouzdanosti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snažnog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modela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za rad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strukturiranim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podacima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koji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omogućuje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učinkovitu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pohranu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upravljanje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velikim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količinama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podataka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</a:t>
            </a:r>
            <a:endParaRPr lang="hr-HR" b="0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hr-HR" b="1" i="0" dirty="0">
                <a:solidFill>
                  <a:srgbClr val="F0F6FC"/>
                </a:solidFill>
                <a:effectLst/>
                <a:latin typeface="-apple-system"/>
              </a:rPr>
              <a:t>Alati za ispitivanje:</a:t>
            </a:r>
            <a:r>
              <a:rPr lang="hr-HR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hr-HR" b="0" i="0" dirty="0" err="1">
                <a:solidFill>
                  <a:srgbClr val="F0F6FC"/>
                </a:solidFill>
                <a:effectLst/>
                <a:latin typeface="-apple-system"/>
              </a:rPr>
              <a:t>JUnit</a:t>
            </a:r>
            <a:endParaRPr lang="en-US" b="1" i="0" dirty="0">
              <a:solidFill>
                <a:srgbClr val="F0F6FC"/>
              </a:solidFill>
              <a:effectLst/>
              <a:latin typeface="-apple-system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Alati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 za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razmještaj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izradi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projekta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korišten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je Docker (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verzija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24)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kontejnerizaciju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što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omogućuje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jednostavno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pokretanje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na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različitim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sustavima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Cloud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-apple-system"/>
              </a:rPr>
              <a:t>platforma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: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hostanje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korištene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platforme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Vercel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trenutni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deployment frontend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aplikacije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te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Supabase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za backend.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Vercel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odabran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zbog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automatskog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povezivanja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na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GitHub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repozitorij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što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značajno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ubrzava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proces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isporuke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testiranja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promjena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Supabase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je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odabran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zbog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toga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što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pruža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gotova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rješenja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za backed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funkcionalnosti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uključujući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PostgreSQL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bazu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podataka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autentikaciju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korisnika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REST/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realtime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API. Time je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moguće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brzo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sigurno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implementirati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pohranu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podataka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upravljanje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korisnicima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, bez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potrebe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za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izgradnjom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vlastitog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serverskog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-apple-system"/>
              </a:rPr>
              <a:t>okruženja</a:t>
            </a: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64628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noProof="0" dirty="0"/>
              <a:t>Organizacija ispitivanja – ispitivanje komponenti (8 ispita) i ispitivanje sustava (4 ispita)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7198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Pokazati ključne funkcionalnosti uživo.</a:t>
            </a:r>
          </a:p>
          <a:p>
            <a:r>
              <a:rPr lang="hr-HR" dirty="0"/>
              <a:t>Fokus na izazove i rješenja (1-2 primjera).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16015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Naučene lekcije o timskom radu, koliko je zapravo bitna komunikacija te suradnja…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8133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jpe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quiz-wiz-tg-09-1.vercel.app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r-HR" sz="4000" noProof="0" dirty="0" err="1"/>
              <a:t>QuizWIZ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hr-HR" sz="1400" dirty="0"/>
              <a:t>09.1 </a:t>
            </a:r>
            <a:r>
              <a:rPr lang="hr-HR" sz="1400" dirty="0" err="1"/>
              <a:t>Wizionari</a:t>
            </a:r>
            <a:endParaRPr lang="hr-HR" sz="1400" noProof="0" dirty="0"/>
          </a:p>
          <a:p>
            <a:r>
              <a:rPr lang="hr-HR" noProof="0" dirty="0"/>
              <a:t>Ak. god. 2025./2026.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CB0F54-7862-2508-EDB2-877BCE433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" y="1245038"/>
            <a:ext cx="9000000" cy="5400000"/>
          </a:xfrm>
        </p:spPr>
        <p:txBody>
          <a:bodyPr/>
          <a:lstStyle/>
          <a:p>
            <a:r>
              <a:rPr lang="hr-HR" dirty="0"/>
              <a:t>članovi tima</a:t>
            </a:r>
          </a:p>
          <a:p>
            <a:r>
              <a:rPr lang="hr-HR" dirty="0"/>
              <a:t>organizacija rada </a:t>
            </a:r>
            <a:endParaRPr lang="hr-HR" noProof="0" dirty="0"/>
          </a:p>
          <a:p>
            <a:r>
              <a:rPr lang="hr-HR" noProof="0" dirty="0"/>
              <a:t>opis zadatka</a:t>
            </a:r>
          </a:p>
          <a:p>
            <a:r>
              <a:rPr lang="hr-HR" dirty="0"/>
              <a:t>a</a:t>
            </a:r>
            <a:r>
              <a:rPr lang="hr-HR" noProof="0" dirty="0" err="1"/>
              <a:t>naliza</a:t>
            </a:r>
            <a:r>
              <a:rPr lang="hr-HR" noProof="0" dirty="0"/>
              <a:t> i oblikovanje sustava	</a:t>
            </a:r>
          </a:p>
          <a:p>
            <a:pPr lvl="1"/>
            <a:r>
              <a:rPr lang="hr-HR" noProof="0" dirty="0"/>
              <a:t>zahtjevi</a:t>
            </a:r>
          </a:p>
          <a:p>
            <a:pPr lvl="1"/>
            <a:r>
              <a:rPr lang="hr-HR" dirty="0"/>
              <a:t>a</a:t>
            </a:r>
            <a:r>
              <a:rPr lang="hr-HR" noProof="0" dirty="0" err="1"/>
              <a:t>rhitektura</a:t>
            </a:r>
            <a:endParaRPr lang="hr-HR" noProof="0" dirty="0"/>
          </a:p>
          <a:p>
            <a:pPr lvl="1"/>
            <a:r>
              <a:rPr lang="hr-HR" dirty="0"/>
              <a:t>korišteni alati i tehnologije</a:t>
            </a:r>
            <a:endParaRPr lang="hr-HR" noProof="0" dirty="0"/>
          </a:p>
          <a:p>
            <a:r>
              <a:rPr lang="hr-HR" dirty="0"/>
              <a:t>ispitivanje</a:t>
            </a:r>
            <a:endParaRPr lang="hr-HR" noProof="0" dirty="0"/>
          </a:p>
          <a:p>
            <a:r>
              <a:rPr lang="hr-HR" dirty="0"/>
              <a:t>i</a:t>
            </a:r>
            <a:r>
              <a:rPr lang="hr-HR" noProof="0" dirty="0" err="1"/>
              <a:t>skustva</a:t>
            </a:r>
            <a:endParaRPr lang="hr-HR" noProof="0" dirty="0"/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pPr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1256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Članovi grupe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" y="1389038"/>
            <a:ext cx="9000000" cy="5400000"/>
          </a:xfrm>
        </p:spPr>
        <p:txBody>
          <a:bodyPr/>
          <a:lstStyle/>
          <a:p>
            <a:r>
              <a:rPr lang="hr-HR" noProof="0" dirty="0"/>
              <a:t>Matija </a:t>
            </a:r>
            <a:r>
              <a:rPr lang="hr-HR" noProof="0" dirty="0" err="1"/>
              <a:t>Bujanić</a:t>
            </a:r>
            <a:r>
              <a:rPr lang="hr-HR" noProof="0" dirty="0"/>
              <a:t> – voditelj, </a:t>
            </a:r>
            <a:r>
              <a:rPr lang="hr-HR" noProof="0" dirty="0" err="1"/>
              <a:t>backend</a:t>
            </a:r>
            <a:endParaRPr lang="hr-HR" noProof="0" dirty="0"/>
          </a:p>
          <a:p>
            <a:r>
              <a:rPr lang="hr-HR" noProof="0" dirty="0"/>
              <a:t>Filip Gojak – </a:t>
            </a:r>
            <a:r>
              <a:rPr lang="hr-HR" noProof="0" dirty="0" err="1"/>
              <a:t>frontend</a:t>
            </a:r>
            <a:endParaRPr lang="hr-HR" noProof="0" dirty="0"/>
          </a:p>
          <a:p>
            <a:r>
              <a:rPr lang="hr-HR" dirty="0"/>
              <a:t>Dario Herceg – dokumentacija, </a:t>
            </a:r>
            <a:r>
              <a:rPr lang="hr-HR" dirty="0" err="1"/>
              <a:t>frontend</a:t>
            </a:r>
            <a:endParaRPr lang="hr-HR" dirty="0"/>
          </a:p>
          <a:p>
            <a:r>
              <a:rPr lang="hr-HR" dirty="0"/>
              <a:t>Ana </a:t>
            </a:r>
            <a:r>
              <a:rPr lang="hr-HR" dirty="0" err="1"/>
              <a:t>Kasanić</a:t>
            </a:r>
            <a:r>
              <a:rPr lang="hr-HR" dirty="0"/>
              <a:t> – baze podataka, </a:t>
            </a:r>
            <a:r>
              <a:rPr lang="hr-HR" dirty="0" err="1"/>
              <a:t>backend</a:t>
            </a:r>
            <a:endParaRPr lang="hr-HR" dirty="0"/>
          </a:p>
          <a:p>
            <a:r>
              <a:rPr lang="hr-HR" noProof="0" dirty="0"/>
              <a:t>Jona </a:t>
            </a:r>
            <a:r>
              <a:rPr lang="hr-HR" noProof="0" dirty="0" err="1"/>
              <a:t>Matsumoto</a:t>
            </a:r>
            <a:r>
              <a:rPr lang="hr-HR" noProof="0" dirty="0"/>
              <a:t> Šegota – </a:t>
            </a:r>
            <a:r>
              <a:rPr lang="hr-HR" noProof="0" dirty="0" err="1"/>
              <a:t>frontend</a:t>
            </a:r>
            <a:endParaRPr lang="hr-HR" noProof="0" dirty="0"/>
          </a:p>
          <a:p>
            <a:r>
              <a:rPr lang="hr-HR" dirty="0"/>
              <a:t>Mihael Vranić – baze podataka, </a:t>
            </a:r>
            <a:r>
              <a:rPr lang="hr-HR" dirty="0" err="1"/>
              <a:t>backend</a:t>
            </a:r>
            <a:endParaRPr lang="hr-HR" dirty="0"/>
          </a:p>
          <a:p>
            <a:r>
              <a:rPr lang="hr-HR" noProof="0" dirty="0"/>
              <a:t>Paula Vidak – dokumentacija</a:t>
            </a:r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245038"/>
            <a:ext cx="9000000" cy="5400000"/>
          </a:xfrm>
        </p:spPr>
        <p:txBody>
          <a:bodyPr>
            <a:normAutofit/>
          </a:bodyPr>
          <a:lstStyle/>
          <a:p>
            <a:r>
              <a:rPr lang="hr-HR" dirty="0"/>
              <a:t>n</a:t>
            </a:r>
            <a:r>
              <a:rPr lang="hr-HR" noProof="0" dirty="0" err="1"/>
              <a:t>eprogramski</a:t>
            </a:r>
            <a:r>
              <a:rPr lang="hr-HR" noProof="0" dirty="0"/>
              <a:t> (organizacijski) zadaci</a:t>
            </a:r>
          </a:p>
          <a:p>
            <a:pPr lvl="1"/>
            <a:r>
              <a:rPr lang="hr-HR" noProof="0" dirty="0" err="1"/>
              <a:t>Discord</a:t>
            </a:r>
            <a:r>
              <a:rPr lang="hr-HR" noProof="0" dirty="0"/>
              <a:t>, WhatsApp</a:t>
            </a:r>
          </a:p>
          <a:p>
            <a:pPr lvl="1"/>
            <a:r>
              <a:rPr lang="hr-HR" noProof="0" dirty="0"/>
              <a:t>ad-</a:t>
            </a:r>
            <a:r>
              <a:rPr lang="hr-HR" noProof="0" dirty="0" err="1"/>
              <a:t>hoc</a:t>
            </a:r>
            <a:r>
              <a:rPr lang="hr-HR" noProof="0" dirty="0"/>
              <a:t> model životnog ciklusa</a:t>
            </a:r>
          </a:p>
          <a:p>
            <a:endParaRPr lang="hr-HR" noProof="0" dirty="0"/>
          </a:p>
          <a:p>
            <a:r>
              <a:rPr lang="hr-HR" dirty="0"/>
              <a:t>v</a:t>
            </a:r>
            <a:r>
              <a:rPr lang="hr-HR" noProof="0" dirty="0"/>
              <a:t>remenski okvir razvoja</a:t>
            </a:r>
          </a:p>
          <a:p>
            <a:pPr lvl="1"/>
            <a:r>
              <a:rPr lang="hr-HR" noProof="0" dirty="0"/>
              <a:t>specifikacija – početak semestra</a:t>
            </a:r>
          </a:p>
          <a:p>
            <a:pPr lvl="1"/>
            <a:r>
              <a:rPr lang="hr-HR" dirty="0"/>
              <a:t>implementacija – tijekom cijelog semestra</a:t>
            </a:r>
          </a:p>
          <a:p>
            <a:pPr lvl="1"/>
            <a:r>
              <a:rPr lang="hr-HR" noProof="0" dirty="0"/>
              <a:t>testiranje – tjedan predaje projekta</a:t>
            </a:r>
          </a:p>
          <a:p>
            <a:pPr lvl="1"/>
            <a:r>
              <a:rPr lang="hr-HR" dirty="0"/>
              <a:t>dokumentacija – tijekom cijelog projekta</a:t>
            </a:r>
            <a:endParaRPr lang="hr-HR" noProof="0" dirty="0"/>
          </a:p>
          <a:p>
            <a:pPr marL="4572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28522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97EB-C006-473D-8A6D-1D5AF89A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TABLICA RAŠČLAMBE ZADATAKA ČLANOVA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1297-23DF-415A-9D1B-F6310A3AB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2C8C4-D34C-41F9-8899-73C7D532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E99644-8F80-4F46-99B6-9082161EAC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48444"/>
          <a:stretch/>
        </p:blipFill>
        <p:spPr>
          <a:xfrm>
            <a:off x="-1" y="843942"/>
            <a:ext cx="6329682" cy="41896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BA4F66-4A2C-4B32-8DE7-05102A53BB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407"/>
          <a:stretch/>
        </p:blipFill>
        <p:spPr>
          <a:xfrm>
            <a:off x="3027681" y="3042234"/>
            <a:ext cx="6116320" cy="381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7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" y="1389038"/>
            <a:ext cx="9000000" cy="5400000"/>
          </a:xfrm>
        </p:spPr>
        <p:txBody>
          <a:bodyPr>
            <a:normAutofit/>
          </a:bodyPr>
          <a:lstStyle/>
          <a:p>
            <a:pPr lvl="0"/>
            <a:r>
              <a:rPr lang="hr-HR" altLang="sr-Latn-RS" dirty="0"/>
              <a:t>problem: neformalna organizacija kvizova (FB/Instagram, poruke…)</a:t>
            </a:r>
          </a:p>
          <a:p>
            <a:r>
              <a:rPr lang="hr-HR" altLang="sr-Latn-RS" dirty="0"/>
              <a:t>sve na jednom mjestu</a:t>
            </a:r>
          </a:p>
          <a:p>
            <a:pPr lvl="0"/>
            <a:r>
              <a:rPr lang="hr-HR" altLang="sr-Latn-RS" dirty="0"/>
              <a:t>upravljanje kvizovima, prijave timova, evidencija</a:t>
            </a:r>
          </a:p>
          <a:p>
            <a:pPr lvl="0"/>
            <a:r>
              <a:rPr lang="hr-HR" altLang="sr-Latn-RS" dirty="0"/>
              <a:t>lakša komunikacija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06D16C6-71A1-4812-BD66-EA1BE3F918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001"/>
          <a:stretch/>
        </p:blipFill>
        <p:spPr>
          <a:xfrm>
            <a:off x="0" y="1212675"/>
            <a:ext cx="9144000" cy="31993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5A91CA-E052-475D-BFD5-7DCF31765F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898"/>
          <a:stretch/>
        </p:blipFill>
        <p:spPr>
          <a:xfrm>
            <a:off x="0" y="1212675"/>
            <a:ext cx="9144000" cy="1450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FUNKCIONALNI </a:t>
            </a:r>
            <a:r>
              <a:rPr lang="hr-HR" noProof="0" dirty="0" err="1"/>
              <a:t>zahtjevI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CDE5D9-838F-4D6C-855A-307E3A420E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890"/>
          <a:stretch/>
        </p:blipFill>
        <p:spPr>
          <a:xfrm>
            <a:off x="0" y="1212675"/>
            <a:ext cx="9144000" cy="1140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AC4C68-D0B3-46B1-90A2-D395732168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83" b="78333"/>
          <a:stretch/>
        </p:blipFill>
        <p:spPr>
          <a:xfrm>
            <a:off x="0" y="3127549"/>
            <a:ext cx="9144000" cy="602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A27C2E-77D3-43DE-9240-DEC3239B14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716" b="72636"/>
          <a:stretch/>
        </p:blipFill>
        <p:spPr>
          <a:xfrm>
            <a:off x="0" y="3439048"/>
            <a:ext cx="9144000" cy="2914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4E73627-A5FD-4571-9266-DDD8CDDEE0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878"/>
          <a:stretch/>
        </p:blipFill>
        <p:spPr>
          <a:xfrm>
            <a:off x="0" y="4411980"/>
            <a:ext cx="9144000" cy="19671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9E1053-907C-4F28-B2BD-42DF0EA436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437" b="38101"/>
          <a:stretch/>
        </p:blipFill>
        <p:spPr>
          <a:xfrm>
            <a:off x="0" y="3548614"/>
            <a:ext cx="9144000" cy="172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7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0394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20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81481E-6 L 0 -0.1599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009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96296E-6 L 0 -0.1432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509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8F636-E8A4-4140-9DFF-7421153AC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NEFUNKCIONALNI ZAHTJEVI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8A277-9FAD-49E3-A387-11A48886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F116E-67AB-4E91-98BC-35200D869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3563"/>
            <a:ext cx="4532551" cy="18712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9F37DA-AE24-45FC-8F9E-46660380DA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40"/>
          <a:stretch/>
        </p:blipFill>
        <p:spPr>
          <a:xfrm>
            <a:off x="4516273" y="973563"/>
            <a:ext cx="4627728" cy="18712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9DE134-7377-44E0-931F-BBFD054C5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44800"/>
            <a:ext cx="4516273" cy="1759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B7A576-95F7-4CA5-9BA9-6F37915C7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604081"/>
            <a:ext cx="4516273" cy="13836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8952B7-EDCC-4965-AA73-F201B3CEF6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9395" y="2844799"/>
            <a:ext cx="4634605" cy="19628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7B9E90-78E5-428D-A3BF-7DCAD231AE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6273" y="4807691"/>
            <a:ext cx="4629127" cy="11837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17C801-474A-4770-A307-ACCA19475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37" y="1821781"/>
            <a:ext cx="7664878" cy="316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8244F74-80F0-4DC2-BE0A-560655286C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234" y="7019121"/>
            <a:ext cx="7001852" cy="17147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70716E5-4E6A-4252-873C-8E1493A3A9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40"/>
          <a:stretch/>
        </p:blipFill>
        <p:spPr>
          <a:xfrm>
            <a:off x="674916" y="1954697"/>
            <a:ext cx="7670356" cy="31015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0DD2DD-2008-4197-9D70-AF1A7D742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11" y="2253920"/>
            <a:ext cx="7204170" cy="280633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1CB47C-986E-4272-9109-923B925F6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739" y="2523321"/>
            <a:ext cx="7841068" cy="24022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7F4185-B60D-4476-991C-E84CE9EAE9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160" y="2047089"/>
            <a:ext cx="6858000" cy="29045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D5FD163-4E10-4B4B-850A-92972F9AC1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639" y="2726931"/>
            <a:ext cx="7433025" cy="19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4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132 -0.21667 L 0.00087 0.03842 " pathEditMode="fixed" rAng="0" ptsTypes="AA">
                                      <p:cBhvr>
                                        <p:cTn id="15" dur="2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01" y="12755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295 -0.23287 L 0.00139 0.02361 " pathEditMode="fixed" rAng="0" ptsTypes="AA">
                                      <p:cBhvr>
                                        <p:cTn id="31" dur="20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87" y="12824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60000" y="6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605 0.00348 L 0.02152 0.00209 " pathEditMode="fixed" rAng="0" ptsTypes="AA">
                                      <p:cBhvr>
                                        <p:cTn id="47" dur="2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78" y="-6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2000" fill="hold"/>
                                        <p:tgtEl>
                                          <p:spTgt spid="22"/>
                                        </p:tgtEl>
                                      </p:cBhvr>
                                      <p:by x="62000" y="6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4705 0.22616 L 3.88889E-6 -0.00462 " pathEditMode="fixed" rAng="0" ptsTypes="AA">
                                      <p:cBhvr>
                                        <p:cTn id="62" dur="20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44" y="-11551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4" dur="2000" fill="hold"/>
                                        <p:tgtEl>
                                          <p:spTgt spid="23"/>
                                        </p:tgtEl>
                                      </p:cBhvr>
                                      <p:by x="58000" y="5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257 0.0449 L 0.02066 0.02824 " pathEditMode="fixed" rAng="0" ptsTypes="AA">
                                      <p:cBhvr>
                                        <p:cTn id="77" dur="20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604" y="-833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9" dur="2000" fill="hold"/>
                                        <p:tgtEl>
                                          <p:spTgt spid="24"/>
                                        </p:tgtEl>
                                      </p:cBhvr>
                                      <p:by x="67000" y="67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233 0.25116 L 0.00834 -0.00532 " pathEditMode="fixed" rAng="0" ptsTypes="AA">
                                      <p:cBhvr>
                                        <p:cTn id="92" dur="2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708" y="-12824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4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62000" y="6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7037E-7 L 0.02674 -0.68657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7" y="-34329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4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194B-73FA-DAD6-728F-E14212BE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0CEC8-0F4C-E99E-FC93-F08F526E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01A0364-9B32-4BBC-A28E-9955D12A7682}"/>
              </a:ext>
            </a:extLst>
          </p:cNvPr>
          <p:cNvGrpSpPr/>
          <p:nvPr/>
        </p:nvGrpSpPr>
        <p:grpSpPr>
          <a:xfrm>
            <a:off x="358140" y="976892"/>
            <a:ext cx="7325641" cy="5524146"/>
            <a:chOff x="358140" y="976892"/>
            <a:chExt cx="7325641" cy="552414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4E90A1E-2F37-46E7-8EB2-7BA6BDD7E4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1" r="-1"/>
            <a:stretch/>
          </p:blipFill>
          <p:spPr>
            <a:xfrm>
              <a:off x="1088156" y="1479718"/>
              <a:ext cx="6595625" cy="502132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D3E2F9-0E37-44C5-A556-FF54AC7ADC9F}"/>
                </a:ext>
              </a:extLst>
            </p:cNvPr>
            <p:cNvSpPr txBox="1"/>
            <p:nvPr/>
          </p:nvSpPr>
          <p:spPr>
            <a:xfrm>
              <a:off x="358140" y="976892"/>
              <a:ext cx="21793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/>
                <a:t>korisnički računi</a:t>
              </a:r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E2EA521-D89C-4B35-8027-01151A75CC1A}"/>
              </a:ext>
            </a:extLst>
          </p:cNvPr>
          <p:cNvGrpSpPr/>
          <p:nvPr/>
        </p:nvGrpSpPr>
        <p:grpSpPr>
          <a:xfrm>
            <a:off x="358140" y="976892"/>
            <a:ext cx="7131973" cy="5661605"/>
            <a:chOff x="358140" y="955815"/>
            <a:chExt cx="7131973" cy="566160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3680B3B-B645-4BDF-BC9B-BA0E7721D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92349" y="1140481"/>
              <a:ext cx="5797764" cy="547693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F30C62-F40D-43E9-8F20-0E21F71913DF}"/>
                </a:ext>
              </a:extLst>
            </p:cNvPr>
            <p:cNvSpPr txBox="1"/>
            <p:nvPr/>
          </p:nvSpPr>
          <p:spPr>
            <a:xfrm>
              <a:off x="358140" y="955815"/>
              <a:ext cx="1623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/>
                <a:t>sudionik/tim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E73540-8324-4DB5-B45B-BCFA481B2847}"/>
              </a:ext>
            </a:extLst>
          </p:cNvPr>
          <p:cNvGrpSpPr/>
          <p:nvPr/>
        </p:nvGrpSpPr>
        <p:grpSpPr>
          <a:xfrm>
            <a:off x="358140" y="976892"/>
            <a:ext cx="7835983" cy="5460987"/>
            <a:chOff x="358140" y="955815"/>
            <a:chExt cx="7835983" cy="546098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72C71A4-9F56-4625-A0FB-4AC878C576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9877" y="1521800"/>
              <a:ext cx="7244246" cy="4895002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4EE8CE-C0B0-42D0-BF1C-C740D06A3227}"/>
                </a:ext>
              </a:extLst>
            </p:cNvPr>
            <p:cNvSpPr txBox="1"/>
            <p:nvPr/>
          </p:nvSpPr>
          <p:spPr>
            <a:xfrm>
              <a:off x="358140" y="955815"/>
              <a:ext cx="2247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/>
                <a:t>organizator kviza</a:t>
              </a:r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5F5035D-4C2A-4B45-8060-F287432017F3}"/>
              </a:ext>
            </a:extLst>
          </p:cNvPr>
          <p:cNvGrpSpPr/>
          <p:nvPr/>
        </p:nvGrpSpPr>
        <p:grpSpPr>
          <a:xfrm>
            <a:off x="358140" y="976892"/>
            <a:ext cx="7835983" cy="5349375"/>
            <a:chOff x="358140" y="967629"/>
            <a:chExt cx="7835983" cy="534937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10C98E2-2FA7-417B-94F6-BF631573A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95820" y="1521627"/>
              <a:ext cx="6898303" cy="4795377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4B92E9-108A-4C86-B113-BC27833EF151}"/>
                </a:ext>
              </a:extLst>
            </p:cNvPr>
            <p:cNvSpPr txBox="1"/>
            <p:nvPr/>
          </p:nvSpPr>
          <p:spPr>
            <a:xfrm flipH="1">
              <a:off x="358140" y="967629"/>
              <a:ext cx="2148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r-HR" dirty="0"/>
                <a:t>administrator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6124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klijent-poslužitelj</a:t>
            </a:r>
          </a:p>
          <a:p>
            <a:r>
              <a:rPr lang="hr-HR" noProof="0" dirty="0"/>
              <a:t>MVC </a:t>
            </a:r>
            <a:r>
              <a:rPr lang="hr-HR" noProof="0" dirty="0" err="1"/>
              <a:t>backend</a:t>
            </a:r>
            <a:endParaRPr lang="hr-HR" noProof="0" dirty="0"/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  <p:pic>
        <p:nvPicPr>
          <p:cNvPr id="12" name="Picture 11" descr="A diagram of a computer&#10;&#10;Description automatically generated">
            <a:extLst>
              <a:ext uri="{FF2B5EF4-FFF2-40B4-BE49-F238E27FC236}">
                <a16:creationId xmlns:a16="http://schemas.microsoft.com/office/drawing/2014/main" id="{029AF600-6670-4280-AA09-7B08B1EF3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03" y="1719897"/>
            <a:ext cx="8380496" cy="3418205"/>
          </a:xfrm>
          <a:prstGeom prst="rect">
            <a:avLst/>
          </a:prstGeom>
        </p:spPr>
      </p:pic>
      <p:pic>
        <p:nvPicPr>
          <p:cNvPr id="14" name="Picture 13" descr="A diagram of a service&#10;&#10;Description automatically generated">
            <a:extLst>
              <a:ext uri="{FF2B5EF4-FFF2-40B4-BE49-F238E27FC236}">
                <a16:creationId xmlns:a16="http://schemas.microsoft.com/office/drawing/2014/main" id="{0A9BC9BF-56BF-49CB-879C-952A71F7F2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01" y="1930400"/>
            <a:ext cx="7446597" cy="4927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E28713-F413-4A04-8755-C1F6F20CA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1" y="1074765"/>
            <a:ext cx="8380496" cy="55590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8451214-BE0A-4B0C-A5E8-8E5256142C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61" y="1131983"/>
            <a:ext cx="7446597" cy="561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5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" grpId="1" build="p"/>
      <p:bldP spid="3" grpId="2" uiExpand="1" build="p"/>
      <p:bldP spid="3" grpId="3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245038"/>
            <a:ext cx="9000000" cy="5400000"/>
          </a:xfrm>
        </p:spPr>
        <p:txBody>
          <a:bodyPr/>
          <a:lstStyle/>
          <a:p>
            <a:r>
              <a:rPr lang="hr-HR" noProof="0" dirty="0"/>
              <a:t>JavaScript </a:t>
            </a:r>
            <a:r>
              <a:rPr lang="hr-HR" noProof="0" dirty="0">
                <a:sym typeface="Wingdings" panose="05000000000000000000" pitchFamily="2" charset="2"/>
              </a:rPr>
              <a:t> </a:t>
            </a:r>
            <a:r>
              <a:rPr lang="hr-HR" noProof="0" dirty="0" err="1">
                <a:sym typeface="Wingdings" panose="05000000000000000000" pitchFamily="2" charset="2"/>
              </a:rPr>
              <a:t>React</a:t>
            </a:r>
            <a:r>
              <a:rPr lang="hr-HR" noProof="0" dirty="0">
                <a:sym typeface="Wingdings" panose="05000000000000000000" pitchFamily="2" charset="2"/>
              </a:rPr>
              <a:t> (v19)</a:t>
            </a:r>
          </a:p>
          <a:p>
            <a:r>
              <a:rPr lang="hr-HR" dirty="0">
                <a:sym typeface="Wingdings" panose="05000000000000000000" pitchFamily="2" charset="2"/>
              </a:rPr>
              <a:t>Java  </a:t>
            </a:r>
            <a:r>
              <a:rPr lang="hr-HR" dirty="0" err="1">
                <a:sym typeface="Wingdings" panose="05000000000000000000" pitchFamily="2" charset="2"/>
              </a:rPr>
              <a:t>Spring</a:t>
            </a:r>
            <a:r>
              <a:rPr lang="hr-HR" dirty="0">
                <a:sym typeface="Wingdings" panose="05000000000000000000" pitchFamily="2" charset="2"/>
              </a:rPr>
              <a:t> </a:t>
            </a:r>
            <a:r>
              <a:rPr lang="hr-HR" dirty="0" err="1">
                <a:sym typeface="Wingdings" panose="05000000000000000000" pitchFamily="2" charset="2"/>
              </a:rPr>
              <a:t>Boot</a:t>
            </a:r>
            <a:r>
              <a:rPr lang="hr-HR" dirty="0">
                <a:sym typeface="Wingdings" panose="05000000000000000000" pitchFamily="2" charset="2"/>
              </a:rPr>
              <a:t> (v4)</a:t>
            </a:r>
          </a:p>
          <a:p>
            <a:r>
              <a:rPr lang="hr-HR" dirty="0" err="1">
                <a:sym typeface="Wingdings" panose="05000000000000000000" pitchFamily="2" charset="2"/>
              </a:rPr>
              <a:t>PostgreSQL</a:t>
            </a:r>
            <a:r>
              <a:rPr lang="hr-HR" dirty="0">
                <a:sym typeface="Wingdings" panose="05000000000000000000" pitchFamily="2" charset="2"/>
              </a:rPr>
              <a:t> (v16)</a:t>
            </a:r>
          </a:p>
          <a:p>
            <a:r>
              <a:rPr lang="hr-HR" noProof="0" dirty="0">
                <a:sym typeface="Wingdings" panose="05000000000000000000" pitchFamily="2" charset="2"/>
              </a:rPr>
              <a:t>Google </a:t>
            </a:r>
            <a:r>
              <a:rPr lang="hr-HR" noProof="0" dirty="0" err="1">
                <a:sym typeface="Wingdings" panose="05000000000000000000" pitchFamily="2" charset="2"/>
              </a:rPr>
              <a:t>OAuth</a:t>
            </a:r>
            <a:r>
              <a:rPr lang="hr-HR" noProof="0" dirty="0">
                <a:sym typeface="Wingdings" panose="05000000000000000000" pitchFamily="2" charset="2"/>
              </a:rPr>
              <a:t> i </a:t>
            </a:r>
            <a:r>
              <a:rPr lang="hr-HR" noProof="0" dirty="0" err="1">
                <a:sym typeface="Wingdings" panose="05000000000000000000" pitchFamily="2" charset="2"/>
              </a:rPr>
              <a:t>GitHub</a:t>
            </a:r>
            <a:r>
              <a:rPr lang="hr-HR" noProof="0" dirty="0">
                <a:sym typeface="Wingdings" panose="05000000000000000000" pitchFamily="2" charset="2"/>
              </a:rPr>
              <a:t> </a:t>
            </a:r>
            <a:r>
              <a:rPr lang="hr-HR" noProof="0" dirty="0" err="1">
                <a:sym typeface="Wingdings" panose="05000000000000000000" pitchFamily="2" charset="2"/>
              </a:rPr>
              <a:t>OAuth</a:t>
            </a:r>
            <a:endParaRPr lang="hr-HR" noProof="0" dirty="0">
              <a:sym typeface="Wingdings" panose="05000000000000000000" pitchFamily="2" charset="2"/>
            </a:endParaRPr>
          </a:p>
          <a:p>
            <a:r>
              <a:rPr lang="hr-HR" dirty="0" err="1">
                <a:sym typeface="Wingdings" panose="05000000000000000000" pitchFamily="2" charset="2"/>
              </a:rPr>
              <a:t>Visual</a:t>
            </a:r>
            <a:r>
              <a:rPr lang="hr-HR" dirty="0">
                <a:sym typeface="Wingdings" panose="05000000000000000000" pitchFamily="2" charset="2"/>
              </a:rPr>
              <a:t> Studio </a:t>
            </a:r>
            <a:r>
              <a:rPr lang="hr-HR" dirty="0" err="1">
                <a:sym typeface="Wingdings" panose="05000000000000000000" pitchFamily="2" charset="2"/>
              </a:rPr>
              <a:t>Code</a:t>
            </a:r>
            <a:r>
              <a:rPr lang="hr-HR" dirty="0">
                <a:sym typeface="Wingdings" panose="05000000000000000000" pitchFamily="2" charset="2"/>
              </a:rPr>
              <a:t> i </a:t>
            </a:r>
            <a:r>
              <a:rPr lang="hr-HR" dirty="0" err="1">
                <a:sym typeface="Wingdings" panose="05000000000000000000" pitchFamily="2" charset="2"/>
              </a:rPr>
              <a:t>IntelliJ</a:t>
            </a:r>
            <a:r>
              <a:rPr lang="hr-HR" dirty="0">
                <a:sym typeface="Wingdings" panose="05000000000000000000" pitchFamily="2" charset="2"/>
              </a:rPr>
              <a:t> IDEA</a:t>
            </a:r>
          </a:p>
          <a:p>
            <a:r>
              <a:rPr lang="hr-HR" dirty="0" err="1">
                <a:sym typeface="Wingdings" panose="05000000000000000000" pitchFamily="2" charset="2"/>
              </a:rPr>
              <a:t>JUnit</a:t>
            </a:r>
            <a:endParaRPr lang="hr-HR" noProof="0" dirty="0">
              <a:sym typeface="Wingdings" panose="05000000000000000000" pitchFamily="2" charset="2"/>
            </a:endParaRPr>
          </a:p>
          <a:p>
            <a:r>
              <a:rPr lang="hr-HR" noProof="0" dirty="0" err="1"/>
              <a:t>Vercel</a:t>
            </a:r>
            <a:r>
              <a:rPr lang="hr-HR" noProof="0" dirty="0"/>
              <a:t>, Railway i </a:t>
            </a:r>
            <a:r>
              <a:rPr lang="hr-HR" noProof="0" dirty="0" err="1"/>
              <a:t>Supabase</a:t>
            </a: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" y="1245038"/>
            <a:ext cx="9000000" cy="5400000"/>
          </a:xfrm>
        </p:spPr>
        <p:txBody>
          <a:bodyPr/>
          <a:lstStyle/>
          <a:p>
            <a:r>
              <a:rPr lang="hr-HR" noProof="0" dirty="0"/>
              <a:t>ispitivanje komponenti i sustava</a:t>
            </a:r>
          </a:p>
          <a:p>
            <a:r>
              <a:rPr lang="hr-HR" noProof="0" dirty="0"/>
              <a:t>svi napravljeni testovi su točni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3BB525-84AC-428E-89AD-4AAF1A48F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03" y="4569579"/>
            <a:ext cx="6981825" cy="6286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3B7869-FE1F-4FEC-9455-6A5E274462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03" y="3844508"/>
            <a:ext cx="7086600" cy="6477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F98C56-A23B-498B-9D28-C79DD44B3D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03" y="3090862"/>
            <a:ext cx="7258050" cy="676275"/>
          </a:xfrm>
          <a:prstGeom prst="rect">
            <a:avLst/>
          </a:prstGeom>
        </p:spPr>
      </p:pic>
      <p:pic>
        <p:nvPicPr>
          <p:cNvPr id="21" name="Picture 20" descr="A black and white text&#10;&#10;Description automatically generated">
            <a:extLst>
              <a:ext uri="{FF2B5EF4-FFF2-40B4-BE49-F238E27FC236}">
                <a16:creationId xmlns:a16="http://schemas.microsoft.com/office/drawing/2014/main" id="{1102F029-A1E9-47CE-9DF0-2B5FF95990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03" y="2289591"/>
            <a:ext cx="5143500" cy="723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D9DF89-09AA-40E1-B529-B24FEC94DA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03" y="5275600"/>
            <a:ext cx="7458075" cy="638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D4BF69-2ACF-4A3D-B046-E822F56178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03" y="5992039"/>
            <a:ext cx="74961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9CBA8-11D5-D65F-3F83-F59F385A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/>
              <a:t>Demonstracija </a:t>
            </a:r>
            <a:r>
              <a:rPr lang="hr-HR" noProof="0" dirty="0"/>
              <a:t>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ADC07-223F-0954-0AAD-901A9AD83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effectLst/>
                <a:latin typeface="Consolas" panose="020B0609020204030204" pitchFamily="49" charset="0"/>
                <a:hlinkClick r:id="rId3"/>
              </a:rPr>
              <a:t>http://quiz-wiz-tg-09-1.vercel.app</a:t>
            </a:r>
            <a:endParaRPr lang="en-US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6D2D5-F8F8-3548-34C0-61BDD7AA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08602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" y="1245038"/>
            <a:ext cx="9000000" cy="5400000"/>
          </a:xfrm>
        </p:spPr>
        <p:txBody>
          <a:bodyPr/>
          <a:lstStyle/>
          <a:p>
            <a:r>
              <a:rPr lang="hr-HR" noProof="0" dirty="0"/>
              <a:t>tehnički izazovi:</a:t>
            </a:r>
          </a:p>
          <a:p>
            <a:pPr lvl="1"/>
            <a:r>
              <a:rPr lang="hr-HR" dirty="0"/>
              <a:t>povezivanje aplikacije s bazom podataka, povezivanje </a:t>
            </a:r>
            <a:r>
              <a:rPr lang="hr-HR" dirty="0" err="1"/>
              <a:t>frontenda</a:t>
            </a:r>
            <a:r>
              <a:rPr lang="hr-HR" dirty="0"/>
              <a:t> i </a:t>
            </a:r>
            <a:r>
              <a:rPr lang="hr-HR" dirty="0" err="1"/>
              <a:t>backenda</a:t>
            </a:r>
            <a:endParaRPr lang="hr-HR" dirty="0"/>
          </a:p>
          <a:p>
            <a:pPr lvl="1"/>
            <a:r>
              <a:rPr lang="hr-HR" noProof="0" dirty="0"/>
              <a:t>sigurnost aplikacije, JWT tokeni, prijava pomoću </a:t>
            </a:r>
            <a:r>
              <a:rPr lang="hr-HR" noProof="0" dirty="0" err="1"/>
              <a:t>OAuth</a:t>
            </a:r>
            <a:r>
              <a:rPr lang="hr-HR" noProof="0" dirty="0"/>
              <a:t>-a</a:t>
            </a:r>
          </a:p>
          <a:p>
            <a:pPr lvl="1"/>
            <a:r>
              <a:rPr lang="hr-HR" noProof="0" dirty="0" err="1"/>
              <a:t>deploy</a:t>
            </a:r>
            <a:r>
              <a:rPr lang="hr-HR" noProof="0" dirty="0"/>
              <a:t> aplikacije</a:t>
            </a:r>
          </a:p>
          <a:p>
            <a:endParaRPr lang="hr-HR" dirty="0"/>
          </a:p>
          <a:p>
            <a:r>
              <a:rPr lang="hr-HR" dirty="0"/>
              <a:t>n</a:t>
            </a:r>
            <a:r>
              <a:rPr lang="hr-HR" noProof="0" dirty="0" err="1"/>
              <a:t>aučene</a:t>
            </a:r>
            <a:r>
              <a:rPr lang="hr-HR" noProof="0" dirty="0"/>
              <a:t> lekcije:</a:t>
            </a:r>
          </a:p>
          <a:p>
            <a:pPr lvl="1"/>
            <a:r>
              <a:rPr lang="hr-HR" noProof="0" dirty="0"/>
              <a:t>timski rad – komunikacija, suradnja i međusobna podrška</a:t>
            </a:r>
          </a:p>
          <a:p>
            <a:pPr lvl="1"/>
            <a:r>
              <a:rPr lang="hr-HR" dirty="0"/>
              <a:t>korištenje novih alata</a:t>
            </a:r>
          </a:p>
          <a:p>
            <a:pPr lvl="1"/>
            <a:r>
              <a:rPr lang="hr-HR" noProof="0" dirty="0">
                <a:sym typeface="Wingdings" panose="05000000000000000000" pitchFamily="2" charset="2"/>
              </a:rPr>
              <a:t>važnost dokumentiranja procesa</a:t>
            </a:r>
          </a:p>
          <a:p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0</TotalTime>
  <Words>1165</Words>
  <Application>Microsoft Office PowerPoint</Application>
  <PresentationFormat>On-screen Show (4:3)</PresentationFormat>
  <Paragraphs>117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-apple-system</vt:lpstr>
      <vt:lpstr>Arial</vt:lpstr>
      <vt:lpstr>Calibri</vt:lpstr>
      <vt:lpstr>Century Gothic</vt:lpstr>
      <vt:lpstr>Consolas</vt:lpstr>
      <vt:lpstr>Courier New</vt:lpstr>
      <vt:lpstr>Franklin Gothic Book</vt:lpstr>
      <vt:lpstr>Franklin Gothic Demi</vt:lpstr>
      <vt:lpstr>Franklin Gothic Medium</vt:lpstr>
      <vt:lpstr>Tahoma</vt:lpstr>
      <vt:lpstr>Wingdings</vt:lpstr>
      <vt:lpstr>Wingdings 2</vt:lpstr>
      <vt:lpstr>PROGI-template</vt:lpstr>
      <vt:lpstr>DividendVTI</vt:lpstr>
      <vt:lpstr>QuizWIZ</vt:lpstr>
      <vt:lpstr>Sadržaj</vt:lpstr>
      <vt:lpstr>Članovi grupe</vt:lpstr>
      <vt:lpstr>Organizacija rada</vt:lpstr>
      <vt:lpstr>TABLICA RAŠČLAMBE ZADATAKA ČLANOVA</vt:lpstr>
      <vt:lpstr>O projektu</vt:lpstr>
      <vt:lpstr>FUNKCIONALNI zahtjevI</vt:lpstr>
      <vt:lpstr>NEFUNKCIONALNI ZAHTJEVI</vt:lpstr>
      <vt:lpstr>UML dijagram obrazaca uporabe</vt:lpstr>
      <vt:lpstr>Arhitektura sustava</vt:lpstr>
      <vt:lpstr>Korišteni alati i tehnologije</vt:lpstr>
      <vt:lpstr>Ispitivanje</vt:lpstr>
      <vt:lpstr>Demonstracija aplikacije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Paula Vidak</cp:lastModifiedBy>
  <cp:revision>76</cp:revision>
  <dcterms:created xsi:type="dcterms:W3CDTF">2016-01-18T13:10:52Z</dcterms:created>
  <dcterms:modified xsi:type="dcterms:W3CDTF">2026-01-23T17:20:15Z</dcterms:modified>
</cp:coreProperties>
</file>